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 type="screen16x9"/>
  <p:notesSz cx="6858000" cy="9144000"/>
  <p:defaultTextStyle>
    <a:defPPr>
      <a:defRPr lang="en-US"/>
    </a:def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3000" dirty="0" b="1">
                <a:solidFill>
                  <a:srgbClr val="00E5FF"/>
                </a:solidFill>
                <a:latin typeface="Segoe UI"/>
              </a:rPr>
              <a:t>HeartRateAnalyze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66928" y="914400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500" dirty="0" b="0">
                <a:solidFill>
                  <a:srgbClr val="AEB9C2"/>
                </a:solidFill>
                <a:latin typeface="Segoe UI"/>
              </a:rPr>
              <a:t>ESP32 ECG + MAX30102 PPG monitoring with Web Bluetooth dashboard</a:t>
            </a:r>
            <a:endParaRPr lang="en-US" sz="1500" dirty="0"/>
          </a:p>
        </p:txBody>
      </p:sp>
      <p:sp>
        <p:nvSpPr>
          <p:cNvPr id="4" name="Bullets"/>
          <p:cNvSpPr txBox="1"/>
          <p:nvPr/>
        </p:nvSpPr>
        <p:spPr>
          <a:xfrm>
            <a:off x="685800" y="1508760"/>
            <a:ext cx="10698480" cy="4343400"/>
          </a:xfrm>
          <a:prstGeom prst="roundRect">
            <a:avLst/>
          </a:prstGeom>
          <a:solidFill>
            <a:srgbClr val="161A1D"/>
          </a:solidFill>
          <a:ln w="12700">
            <a:solidFill>
              <a:srgbClr val="2A343A"/>
            </a:solidFill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900" dirty="0" b="0">
                <a:solidFill>
                  <a:srgbClr val="E8EEF2"/>
                </a:solidFill>
                <a:latin typeface="Segoe UI"/>
              </a:rPr>
              <a:t>Current build compiles for ESP32 Dev Module</a:t>
            </a:r>
            <a:endParaRPr lang="en-US" sz="19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900" dirty="0" b="0">
                <a:solidFill>
                  <a:srgbClr val="E8EEF2"/>
                </a:solidFill>
                <a:latin typeface="Segoe UI"/>
              </a:rPr>
              <a:t>PPG waveform is raw IR; ECG is filtered before transmission</a:t>
            </a:r>
            <a:endParaRPr lang="en-US" sz="19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900" dirty="0" b="0">
                <a:solidFill>
                  <a:srgbClr val="E8EEF2"/>
                </a:solidFill>
                <a:latin typeface="Segoe UI"/>
              </a:rPr>
              <a:t>Arrhythmia classification is heuristic, not medical grade</a:t>
            </a:r>
            <a:endParaRPr lang="en-US" sz="1900" dirty="0"/>
          </a:p>
        </p:txBody>
      </p:sp>
      <p:sp>
        <p:nvSpPr>
          <p:cNvPr id="5" name="Firmware"/>
          <p:cNvSpPr txBox="1"/>
          <p:nvPr/>
        </p:nvSpPr>
        <p:spPr>
          <a:xfrm>
            <a:off x="685800" y="1691640"/>
            <a:ext cx="3383280" cy="411480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/>
            </a:solidFill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700" dirty="0" b="1">
                <a:solidFill>
                  <a:srgbClr val="081014"/>
                </a:solidFill>
                <a:latin typeface="Segoe UI"/>
              </a:rPr>
              <a:t>Firmware</a:t>
            </a:r>
            <a:endParaRPr lang="en-US" sz="1700" dirty="0"/>
          </a:p>
        </p:txBody>
      </p:sp>
      <p:sp>
        <p:nvSpPr>
          <p:cNvPr id="6" name="Firmware body"/>
          <p:cNvSpPr txBox="1"/>
          <p:nvPr/>
        </p:nvSpPr>
        <p:spPr>
          <a:xfrm>
            <a:off x="685800" y="2130552"/>
            <a:ext cx="3383280" cy="1572768"/>
          </a:xfrm>
          <a:prstGeom prst="roundRect">
            <a:avLst/>
          </a:prstGeom>
          <a:solidFill>
            <a:srgbClr val="151A1E"/>
          </a:solidFill>
          <a:ln w="12700">
            <a:solidFill>
              <a:srgbClr val="2A343A"/>
            </a:solidFill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400" dirty="0" b="0">
                <a:solidFill>
                  <a:srgbClr val="E8EEF2"/>
                </a:solidFill>
                <a:latin typeface="Segoe UI"/>
              </a:rPr>
              <a:t>ESP32 samples ECG, MAX30102 red/IR, computes vitals, sends BLE notifications.</a:t>
            </a:r>
            <a:endParaRPr lang="en-US" sz="1400" dirty="0"/>
          </a:p>
        </p:txBody>
      </p:sp>
      <p:sp>
        <p:nvSpPr>
          <p:cNvPr id="7" name="Dashboard"/>
          <p:cNvSpPr txBox="1"/>
          <p:nvPr/>
        </p:nvSpPr>
        <p:spPr>
          <a:xfrm>
            <a:off x="4434840" y="1691640"/>
            <a:ext cx="3383280" cy="411480"/>
          </a:xfrm>
          <a:prstGeom prst="roundRect">
            <a:avLst/>
          </a:prstGeom>
          <a:solidFill>
            <a:srgbClr val="00E676"/>
          </a:solidFill>
          <a:ln w="12700">
            <a:solidFill>
              <a:srgbClr val="00E676"/>
            </a:solidFill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700" dirty="0" b="1">
                <a:solidFill>
                  <a:srgbClr val="081014"/>
                </a:solidFill>
                <a:latin typeface="Segoe UI"/>
              </a:rPr>
              <a:t>Dashboard</a:t>
            </a:r>
            <a:endParaRPr lang="en-US" sz="1700" dirty="0"/>
          </a:p>
        </p:txBody>
      </p:sp>
      <p:sp>
        <p:nvSpPr>
          <p:cNvPr id="8" name="Dashboard body"/>
          <p:cNvSpPr txBox="1"/>
          <p:nvPr/>
        </p:nvSpPr>
        <p:spPr>
          <a:xfrm>
            <a:off x="4434840" y="2130552"/>
            <a:ext cx="3383280" cy="1572768"/>
          </a:xfrm>
          <a:prstGeom prst="roundRect">
            <a:avLst/>
          </a:prstGeom>
          <a:solidFill>
            <a:srgbClr val="151A1E"/>
          </a:solidFill>
          <a:ln w="12700">
            <a:solidFill>
              <a:srgbClr val="2A343A"/>
            </a:solidFill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400" dirty="0" b="0">
                <a:solidFill>
                  <a:srgbClr val="E8EEF2"/>
                </a:solidFill>
                <a:latin typeface="Segoe UI"/>
              </a:rPr>
              <a:t>Mobile web app connects over BLE, renders waveforms, and stores history locally.</a:t>
            </a:r>
            <a:endParaRPr lang="en-US" sz="1400" dirty="0"/>
          </a:p>
        </p:txBody>
      </p:sp>
      <p:sp>
        <p:nvSpPr>
          <p:cNvPr id="9" name="Display"/>
          <p:cNvSpPr txBox="1"/>
          <p:nvPr/>
        </p:nvSpPr>
        <p:spPr>
          <a:xfrm>
            <a:off x="8183879" y="1691640"/>
            <a:ext cx="2743200" cy="411480"/>
          </a:xfrm>
          <a:prstGeom prst="roundRect">
            <a:avLst/>
          </a:prstGeom>
          <a:solidFill>
            <a:srgbClr val="FFEA00"/>
          </a:solidFill>
          <a:ln w="12700">
            <a:solidFill>
              <a:srgbClr val="FFEA00"/>
            </a:solidFill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700" dirty="0" b="1">
                <a:solidFill>
                  <a:srgbClr val="081014"/>
                </a:solidFill>
                <a:latin typeface="Segoe UI"/>
              </a:rPr>
              <a:t>Display</a:t>
            </a:r>
            <a:endParaRPr lang="en-US" sz="1700" dirty="0"/>
          </a:p>
        </p:txBody>
      </p:sp>
      <p:sp>
        <p:nvSpPr>
          <p:cNvPr id="10" name="Display body"/>
          <p:cNvSpPr txBox="1"/>
          <p:nvPr/>
        </p:nvSpPr>
        <p:spPr>
          <a:xfrm>
            <a:off x="8183879" y="2130552"/>
            <a:ext cx="2743200" cy="1572768"/>
          </a:xfrm>
          <a:prstGeom prst="roundRect">
            <a:avLst/>
          </a:prstGeom>
          <a:solidFill>
            <a:srgbClr val="151A1E"/>
          </a:solidFill>
          <a:ln w="12700">
            <a:solidFill>
              <a:srgbClr val="2A343A"/>
            </a:solidFill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400" dirty="0" b="0">
                <a:solidFill>
                  <a:srgbClr val="E8EEF2"/>
                </a:solidFill>
                <a:latin typeface="Segoe UI"/>
              </a:rPr>
              <a:t>16x2 LCD shows PPG schedule, BPM, SpO2, and sensor status.</a:t>
            </a:r>
            <a:endParaRPr lang="en-US" sz="1400" dirty="0"/>
          </a:p>
        </p:txBody>
      </p:sp>
      <p:sp>
        <p:nvSpPr>
          <p:cNvPr id="11" name="Footer"/>
          <p:cNvSpPr txBox="1"/>
          <p:nvPr/>
        </p:nvSpPr>
        <p:spPr>
          <a:xfrm>
            <a:off x="502920" y="632764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900" dirty="0" b="0">
                <a:solidFill>
                  <a:srgbClr val="5D6A72"/>
                </a:solidFill>
                <a:latin typeface="Segoe UI"/>
              </a:rPr>
              <a:t>HeartRateAnalyze | Slide 1/11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3000" dirty="0" b="1">
                <a:solidFill>
                  <a:srgbClr val="00E5FF"/>
                </a:solidFill>
                <a:latin typeface="Segoe UI"/>
              </a:rPr>
              <a:t>Problem &amp; Goal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66928" y="914400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500" dirty="0" b="0">
                <a:solidFill>
                  <a:srgbClr val="AEB9C2"/>
                </a:solidFill>
                <a:latin typeface="Segoe UI"/>
              </a:rPr>
              <a:t>A compact vital-sign monitor for demo and learning</a:t>
            </a:r>
            <a:endParaRPr lang="en-US" sz="1500" dirty="0"/>
          </a:p>
        </p:txBody>
      </p:sp>
      <p:sp>
        <p:nvSpPr>
          <p:cNvPr id="4" name="Bullets"/>
          <p:cNvSpPr txBox="1"/>
          <p:nvPr/>
        </p:nvSpPr>
        <p:spPr>
          <a:xfrm>
            <a:off x="685800" y="1508760"/>
            <a:ext cx="10698480" cy="4343400"/>
          </a:xfrm>
          <a:prstGeom prst="roundRect">
            <a:avLst/>
          </a:prstGeom>
          <a:solidFill>
            <a:srgbClr val="161A1D"/>
          </a:solidFill>
          <a:ln w="12700">
            <a:solidFill>
              <a:srgbClr val="2A343A"/>
            </a:solidFill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900" dirty="0" b="0">
                <a:solidFill>
                  <a:srgbClr val="E8EEF2"/>
                </a:solidFill>
                <a:latin typeface="Segoe UI"/>
              </a:rPr>
              <a:t>Capture ECG and optical pulse data from low-cost sensors.</a:t>
            </a:r>
            <a:endParaRPr lang="en-US" sz="19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900" dirty="0" b="0">
                <a:solidFill>
                  <a:srgbClr val="E8EEF2"/>
                </a:solidFill>
                <a:latin typeface="Segoe UI"/>
              </a:rPr>
              <a:t>Show live heart rate, SpO2 estimate, HRV, rhythm status, ECG, and PPG.</a:t>
            </a:r>
            <a:endParaRPr lang="en-US" sz="19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900" dirty="0" b="0">
                <a:solidFill>
                  <a:srgbClr val="E8EEF2"/>
                </a:solidFill>
                <a:latin typeface="Segoe UI"/>
              </a:rPr>
              <a:t>Use browser-based UI so no native mobile app is required.</a:t>
            </a:r>
            <a:endParaRPr lang="en-US" sz="19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900" dirty="0" b="0">
                <a:solidFill>
                  <a:srgbClr val="E8EEF2"/>
                </a:solidFill>
                <a:latin typeface="Segoe UI"/>
              </a:rPr>
              <a:t>Persist short recording history in localStorage for review.</a:t>
            </a:r>
            <a:endParaRPr lang="en-US" sz="1900" dirty="0"/>
          </a:p>
        </p:txBody>
      </p:sp>
      <p:sp>
        <p:nvSpPr>
          <p:cNvPr id="5" name="Footer"/>
          <p:cNvSpPr txBox="1"/>
          <p:nvPr/>
        </p:nvSpPr>
        <p:spPr>
          <a:xfrm>
            <a:off x="502920" y="632764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900" dirty="0" b="0">
                <a:solidFill>
                  <a:srgbClr val="5D6A72"/>
                </a:solidFill>
                <a:latin typeface="Segoe UI"/>
              </a:rPr>
              <a:t>HeartRateAnalyze | Slide 2/11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3000" dirty="0" b="1">
                <a:solidFill>
                  <a:srgbClr val="00E5FF"/>
                </a:solidFill>
                <a:latin typeface="Segoe UI"/>
              </a:rPr>
              <a:t>System Architecture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66928" y="914400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500" dirty="0" b="0">
                <a:solidFill>
                  <a:srgbClr val="AEB9C2"/>
                </a:solidFill>
                <a:latin typeface="Segoe UI"/>
              </a:rPr>
              <a:t>End-to-end data flow</a:t>
            </a:r>
            <a:endParaRPr lang="en-US" sz="1500" dirty="0"/>
          </a:p>
        </p:txBody>
      </p:sp>
      <p:sp>
        <p:nvSpPr>
          <p:cNvPr id="4" name="Bullets"/>
          <p:cNvSpPr txBox="1"/>
          <p:nvPr/>
        </p:nvSpPr>
        <p:spPr>
          <a:xfrm>
            <a:off x="685800" y="1508760"/>
            <a:ext cx="10698480" cy="4343400"/>
          </a:xfrm>
          <a:prstGeom prst="roundRect">
            <a:avLst/>
          </a:prstGeom>
          <a:solidFill>
            <a:srgbClr val="161A1D"/>
          </a:solidFill>
          <a:ln w="12700">
            <a:solidFill>
              <a:srgbClr val="2A343A"/>
            </a:solidFill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900" dirty="0" b="0">
                <a:solidFill>
                  <a:srgbClr val="E8EEF2"/>
                </a:solidFill>
                <a:latin typeface="Segoe UI"/>
              </a:rPr>
              <a:t>MAX30102 red/IR feeds BPM, SpO2 estimate, and raw PPG waveform.</a:t>
            </a:r>
            <a:endParaRPr lang="en-US" sz="19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900" dirty="0" b="0">
                <a:solidFill>
                  <a:srgbClr val="E8EEF2"/>
                </a:solidFill>
                <a:latin typeface="Segoe UI"/>
              </a:rPr>
              <a:t>ECG pin 34 feeds filtered ECG waveform.</a:t>
            </a:r>
            <a:endParaRPr lang="en-US" sz="19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900" dirty="0" b="0">
                <a:solidFill>
                  <a:srgbClr val="E8EEF2"/>
                </a:solidFill>
                <a:latin typeface="Segoe UI"/>
              </a:rPr>
              <a:t>BLE service uses fixed UUIDs matched by the browser.</a:t>
            </a:r>
            <a:endParaRPr lang="en-US" sz="1900" dirty="0"/>
          </a:p>
        </p:txBody>
      </p:sp>
      <p:sp>
        <p:nvSpPr>
          <p:cNvPr id="5" name="ECG Sensor"/>
          <p:cNvSpPr txBox="1"/>
          <p:nvPr/>
        </p:nvSpPr>
        <p:spPr>
          <a:xfrm>
            <a:off x="594360" y="2240280"/>
            <a:ext cx="1508760" cy="822960"/>
          </a:xfrm>
          <a:prstGeom prst="roundRect">
            <a:avLst/>
          </a:prstGeom>
          <a:solidFill>
            <a:srgbClr val="151A1E"/>
          </a:solidFill>
          <a:ln w="12700">
            <a:solidFill>
              <a:srgbClr val="00E676"/>
            </a:solidFill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600" dirty="0" b="1">
                <a:solidFill>
                  <a:srgbClr val="E8EEF2"/>
                </a:solidFill>
                <a:latin typeface="Segoe UI"/>
              </a:rPr>
              <a:t>ECG Sensor</a:t>
            </a:r>
            <a:endParaRPr lang="en-US" sz="1600" dirty="0"/>
          </a:p>
        </p:txBody>
      </p:sp>
      <p:sp>
        <p:nvSpPr>
          <p:cNvPr id="6" name="ESP32 Firmware"/>
          <p:cNvSpPr txBox="1"/>
          <p:nvPr/>
        </p:nvSpPr>
        <p:spPr>
          <a:xfrm>
            <a:off x="2514600" y="2240280"/>
            <a:ext cx="1645920" cy="822960"/>
          </a:xfrm>
          <a:prstGeom prst="roundRect">
            <a:avLst/>
          </a:prstGeom>
          <a:solidFill>
            <a:srgbClr val="151A1E"/>
          </a:solidFill>
          <a:ln w="12700">
            <a:solidFill>
              <a:srgbClr val="00E5FF"/>
            </a:solidFill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600" dirty="0" b="1">
                <a:solidFill>
                  <a:srgbClr val="E8EEF2"/>
                </a:solidFill>
                <a:latin typeface="Segoe UI"/>
              </a:rPr>
              <a:t>ESP32 Firmware</a:t>
            </a:r>
            <a:endParaRPr lang="en-US" sz="1600" dirty="0"/>
          </a:p>
        </p:txBody>
      </p:sp>
      <p:sp>
        <p:nvSpPr>
          <p:cNvPr id="7" name="BLE Notify"/>
          <p:cNvSpPr txBox="1"/>
          <p:nvPr/>
        </p:nvSpPr>
        <p:spPr>
          <a:xfrm>
            <a:off x="4572000" y="2240280"/>
            <a:ext cx="1508760" cy="822960"/>
          </a:xfrm>
          <a:prstGeom prst="roundRect">
            <a:avLst/>
          </a:prstGeom>
          <a:solidFill>
            <a:srgbClr val="151A1E"/>
          </a:solidFill>
          <a:ln w="12700">
            <a:solidFill>
              <a:srgbClr val="FFEA00"/>
            </a:solidFill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600" dirty="0" b="1">
                <a:solidFill>
                  <a:srgbClr val="E8EEF2"/>
                </a:solidFill>
                <a:latin typeface="Segoe UI"/>
              </a:rPr>
              <a:t>BLE Notify</a:t>
            </a:r>
            <a:endParaRPr lang="en-US" sz="1600" dirty="0"/>
          </a:p>
        </p:txBody>
      </p:sp>
      <p:sp>
        <p:nvSpPr>
          <p:cNvPr id="8" name="Web App"/>
          <p:cNvSpPr txBox="1"/>
          <p:nvPr/>
        </p:nvSpPr>
        <p:spPr>
          <a:xfrm>
            <a:off x="6492240" y="2240280"/>
            <a:ext cx="1737360" cy="822960"/>
          </a:xfrm>
          <a:prstGeom prst="roundRect">
            <a:avLst/>
          </a:prstGeom>
          <a:solidFill>
            <a:srgbClr val="151A1E"/>
          </a:solidFill>
          <a:ln w="12700">
            <a:solidFill>
              <a:srgbClr val="00E5FF"/>
            </a:solidFill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600" dirty="0" b="1">
                <a:solidFill>
                  <a:srgbClr val="E8EEF2"/>
                </a:solidFill>
                <a:latin typeface="Segoe UI"/>
              </a:rPr>
              <a:t>Web App</a:t>
            </a:r>
            <a:endParaRPr lang="en-US" sz="1600" dirty="0"/>
          </a:p>
        </p:txBody>
      </p:sp>
      <p:sp>
        <p:nvSpPr>
          <p:cNvPr id="9" name="Charts + History"/>
          <p:cNvSpPr txBox="1"/>
          <p:nvPr/>
        </p:nvSpPr>
        <p:spPr>
          <a:xfrm>
            <a:off x="8641080" y="2240280"/>
            <a:ext cx="2103120" cy="822960"/>
          </a:xfrm>
          <a:prstGeom prst="roundRect">
            <a:avLst/>
          </a:prstGeom>
          <a:solidFill>
            <a:srgbClr val="151A1E"/>
          </a:solidFill>
          <a:ln w="12700">
            <a:solidFill>
              <a:srgbClr val="00E676"/>
            </a:solidFill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600" dirty="0" b="1">
                <a:solidFill>
                  <a:srgbClr val="E8EEF2"/>
                </a:solidFill>
                <a:latin typeface="Segoe UI"/>
              </a:rPr>
              <a:t>Charts + History</a:t>
            </a:r>
            <a:endParaRPr lang="en-US" sz="1600" dirty="0"/>
          </a:p>
        </p:txBody>
      </p:sp>
      <p:cxnSp>
        <p:nvCxnSpPr>
          <p:cNvPr id="10" name="Connector 10"/>
          <p:cNvCxnSpPr/>
          <p:nvPr/>
        </p:nvCxnSpPr>
        <p:spPr>
          <a:xfrm>
            <a:off x="2103120" y="2651760"/>
            <a:ext cx="411480" cy="1"/>
          </a:xfrm>
          <a:prstGeom prst="straightConnector1">
            <a:avLst/>
          </a:prstGeom>
          <a:ln w="28575">
            <a:solidFill>
              <a:srgbClr val="00E5FF"/>
            </a:solidFill>
            <a:tailEnd type="none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1"/>
          <p:cNvCxnSpPr/>
          <p:nvPr/>
        </p:nvCxnSpPr>
        <p:spPr>
          <a:xfrm>
            <a:off x="4160520" y="2651760"/>
            <a:ext cx="411480" cy="1"/>
          </a:xfrm>
          <a:prstGeom prst="straightConnector1">
            <a:avLst/>
          </a:prstGeom>
          <a:ln w="28575">
            <a:solidFill>
              <a:srgbClr val="00E5FF"/>
            </a:solidFill>
            <a:tailEnd type="none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2"/>
          <p:cNvCxnSpPr/>
          <p:nvPr/>
        </p:nvCxnSpPr>
        <p:spPr>
          <a:xfrm>
            <a:off x="6080760" y="2651760"/>
            <a:ext cx="411480" cy="1"/>
          </a:xfrm>
          <a:prstGeom prst="straightConnector1">
            <a:avLst/>
          </a:prstGeom>
          <a:ln w="28575">
            <a:solidFill>
              <a:srgbClr val="00E5FF"/>
            </a:solidFill>
            <a:tailEnd type="none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3"/>
          <p:cNvCxnSpPr/>
          <p:nvPr/>
        </p:nvCxnSpPr>
        <p:spPr>
          <a:xfrm>
            <a:off x="8229600" y="2651760"/>
            <a:ext cx="411480" cy="1"/>
          </a:xfrm>
          <a:prstGeom prst="straightConnector1">
            <a:avLst/>
          </a:prstGeom>
          <a:ln w="28575">
            <a:solidFill>
              <a:srgbClr val="00E5FF"/>
            </a:solidFill>
            <a:tailEnd type="none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ooter"/>
          <p:cNvSpPr txBox="1"/>
          <p:nvPr/>
        </p:nvSpPr>
        <p:spPr>
          <a:xfrm>
            <a:off x="502920" y="632764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900" dirty="0" b="0">
                <a:solidFill>
                  <a:srgbClr val="5D6A72"/>
                </a:solidFill>
                <a:latin typeface="Segoe UI"/>
              </a:rPr>
              <a:t>HeartRateAnalyze | Slide 3/11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3000" dirty="0" b="1">
                <a:solidFill>
                  <a:srgbClr val="00E5FF"/>
                </a:solidFill>
                <a:latin typeface="Segoe UI"/>
              </a:rPr>
              <a:t>Hardware Components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66928" y="914400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500" dirty="0" b="0">
                <a:solidFill>
                  <a:srgbClr val="AEB9C2"/>
                </a:solidFill>
                <a:latin typeface="Segoe UI"/>
              </a:rPr>
              <a:t>Main electronics and pin mapping</a:t>
            </a:r>
            <a:endParaRPr lang="en-US" sz="1500" dirty="0"/>
          </a:p>
        </p:txBody>
      </p:sp>
      <p:sp>
        <p:nvSpPr>
          <p:cNvPr id="4" name="Bullets"/>
          <p:cNvSpPr txBox="1"/>
          <p:nvPr/>
        </p:nvSpPr>
        <p:spPr>
          <a:xfrm>
            <a:off x="685800" y="1508760"/>
            <a:ext cx="10698480" cy="4343400"/>
          </a:xfrm>
          <a:prstGeom prst="roundRect">
            <a:avLst/>
          </a:prstGeom>
          <a:solidFill>
            <a:srgbClr val="161A1D"/>
          </a:solidFill>
          <a:ln w="12700">
            <a:solidFill>
              <a:srgbClr val="2A343A"/>
            </a:solidFill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900" dirty="0" b="0">
                <a:solidFill>
                  <a:srgbClr val="E8EEF2"/>
                </a:solidFill>
                <a:latin typeface="Segoe UI"/>
              </a:rPr>
              <a:t>Libraries: BLEDevice/BLEServer, SparkFun MAX30105, heartRate, LiquidCrystal_I2C</a:t>
            </a:r>
            <a:endParaRPr lang="en-US" sz="1900" dirty="0"/>
          </a:p>
        </p:txBody>
      </p:sp>
      <p:sp>
        <p:nvSpPr>
          <p:cNvPr id="5" name="ESP32"/>
          <p:cNvSpPr txBox="1"/>
          <p:nvPr/>
        </p:nvSpPr>
        <p:spPr>
          <a:xfrm>
            <a:off x="685800" y="1508760"/>
            <a:ext cx="3017520" cy="411480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/>
            </a:solidFill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700" dirty="0" b="1">
                <a:solidFill>
                  <a:srgbClr val="081014"/>
                </a:solidFill>
                <a:latin typeface="Segoe UI"/>
              </a:rPr>
              <a:t>ESP32</a:t>
            </a:r>
            <a:endParaRPr lang="en-US" sz="1700" dirty="0"/>
          </a:p>
        </p:txBody>
      </p:sp>
      <p:sp>
        <p:nvSpPr>
          <p:cNvPr id="6" name="ESP32 body"/>
          <p:cNvSpPr txBox="1"/>
          <p:nvPr/>
        </p:nvSpPr>
        <p:spPr>
          <a:xfrm>
            <a:off x="685800" y="1947672"/>
            <a:ext cx="3017520" cy="1435607"/>
          </a:xfrm>
          <a:prstGeom prst="roundRect">
            <a:avLst/>
          </a:prstGeom>
          <a:solidFill>
            <a:srgbClr val="151A1E"/>
          </a:solidFill>
          <a:ln w="12700">
            <a:solidFill>
              <a:srgbClr val="2A343A"/>
            </a:solidFill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400" dirty="0" b="0">
                <a:solidFill>
                  <a:srgbClr val="E8EEF2"/>
                </a:solidFill>
                <a:latin typeface="Segoe UI"/>
              </a:rPr>
              <a:t>BLE peripheral named VitalMonitor</a:t>
            </a:r>
            <a:endParaRPr lang="en-US" sz="14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400" dirty="0" b="0">
                <a:solidFill>
                  <a:srgbClr val="E8EEF2"/>
                </a:solidFill>
                <a:latin typeface="Segoe UI"/>
              </a:rPr>
              <a:t>Analog ECG input on GPIO 34</a:t>
            </a:r>
            <a:endParaRPr lang="en-US" sz="14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400" dirty="0" b="0">
                <a:solidFill>
                  <a:srgbClr val="E8EEF2"/>
                </a:solidFill>
                <a:latin typeface="Segoe UI"/>
              </a:rPr>
              <a:t>I2C on GPIO 21/22</a:t>
            </a:r>
            <a:endParaRPr lang="en-US" sz="1400" dirty="0"/>
          </a:p>
        </p:txBody>
      </p:sp>
      <p:sp>
        <p:nvSpPr>
          <p:cNvPr id="7" name="MAX30102"/>
          <p:cNvSpPr txBox="1"/>
          <p:nvPr/>
        </p:nvSpPr>
        <p:spPr>
          <a:xfrm>
            <a:off x="3977639" y="1508760"/>
            <a:ext cx="3017520" cy="411480"/>
          </a:xfrm>
          <a:prstGeom prst="roundRect">
            <a:avLst/>
          </a:prstGeom>
          <a:solidFill>
            <a:srgbClr val="00E676"/>
          </a:solidFill>
          <a:ln w="12700">
            <a:solidFill>
              <a:srgbClr val="00E676"/>
            </a:solidFill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700" dirty="0" b="1">
                <a:solidFill>
                  <a:srgbClr val="081014"/>
                </a:solidFill>
                <a:latin typeface="Segoe UI"/>
              </a:rPr>
              <a:t>MAX30102</a:t>
            </a:r>
            <a:endParaRPr lang="en-US" sz="1700" dirty="0"/>
          </a:p>
        </p:txBody>
      </p:sp>
      <p:sp>
        <p:nvSpPr>
          <p:cNvPr id="8" name="MAX30102 body"/>
          <p:cNvSpPr txBox="1"/>
          <p:nvPr/>
        </p:nvSpPr>
        <p:spPr>
          <a:xfrm>
            <a:off x="3977639" y="1947672"/>
            <a:ext cx="3017520" cy="1435607"/>
          </a:xfrm>
          <a:prstGeom prst="roundRect">
            <a:avLst/>
          </a:prstGeom>
          <a:solidFill>
            <a:srgbClr val="151A1E"/>
          </a:solidFill>
          <a:ln w="12700">
            <a:solidFill>
              <a:srgbClr val="2A343A"/>
            </a:solidFill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400" dirty="0" b="0">
                <a:solidFill>
                  <a:srgbClr val="E8EEF2"/>
                </a:solidFill>
                <a:latin typeface="Segoe UI"/>
              </a:rPr>
              <a:t>Raw IR PPG waveform</a:t>
            </a:r>
            <a:endParaRPr lang="en-US" sz="14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400" dirty="0" b="0">
                <a:solidFill>
                  <a:srgbClr val="E8EEF2"/>
                </a:solidFill>
                <a:latin typeface="Segoe UI"/>
              </a:rPr>
              <a:t>Red + IR values for SpO2</a:t>
            </a:r>
            <a:endParaRPr lang="en-US" sz="14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400" dirty="0" b="0">
                <a:solidFill>
                  <a:srgbClr val="E8EEF2"/>
                </a:solidFill>
                <a:latin typeface="Segoe UI"/>
              </a:rPr>
              <a:t>Beat detection from IR channel</a:t>
            </a:r>
            <a:endParaRPr lang="en-US" sz="1400" dirty="0"/>
          </a:p>
        </p:txBody>
      </p:sp>
      <p:sp>
        <p:nvSpPr>
          <p:cNvPr id="9" name="16x2 LCD"/>
          <p:cNvSpPr txBox="1"/>
          <p:nvPr/>
        </p:nvSpPr>
        <p:spPr>
          <a:xfrm>
            <a:off x="7269480" y="1508760"/>
            <a:ext cx="3017520" cy="411480"/>
          </a:xfrm>
          <a:prstGeom prst="roundRect">
            <a:avLst/>
          </a:prstGeom>
          <a:solidFill>
            <a:srgbClr val="FFEA00"/>
          </a:solidFill>
          <a:ln w="12700">
            <a:solidFill>
              <a:srgbClr val="FFEA00"/>
            </a:solidFill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700" dirty="0" b="1">
                <a:solidFill>
                  <a:srgbClr val="081014"/>
                </a:solidFill>
                <a:latin typeface="Segoe UI"/>
              </a:rPr>
              <a:t>16x2 LCD</a:t>
            </a:r>
            <a:endParaRPr lang="en-US" sz="1700" dirty="0"/>
          </a:p>
        </p:txBody>
      </p:sp>
      <p:sp>
        <p:nvSpPr>
          <p:cNvPr id="10" name="16x2 LCD body"/>
          <p:cNvSpPr txBox="1"/>
          <p:nvPr/>
        </p:nvSpPr>
        <p:spPr>
          <a:xfrm>
            <a:off x="7269480" y="1947672"/>
            <a:ext cx="3017520" cy="1435607"/>
          </a:xfrm>
          <a:prstGeom prst="roundRect">
            <a:avLst/>
          </a:prstGeom>
          <a:solidFill>
            <a:srgbClr val="151A1E"/>
          </a:solidFill>
          <a:ln w="12700">
            <a:solidFill>
              <a:srgbClr val="2A343A"/>
            </a:solidFill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400" dirty="0" b="0">
                <a:solidFill>
                  <a:srgbClr val="E8EEF2"/>
                </a:solidFill>
                <a:latin typeface="Segoe UI"/>
              </a:rPr>
              <a:t>I2C address 0x27</a:t>
            </a:r>
            <a:endParaRPr lang="en-US" sz="14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400" dirty="0" b="0">
                <a:solidFill>
                  <a:srgbClr val="E8EEF2"/>
                </a:solidFill>
                <a:latin typeface="Segoe UI"/>
              </a:rPr>
              <a:t>PPG schedule/recording status</a:t>
            </a:r>
            <a:endParaRPr lang="en-US" sz="14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400" dirty="0" b="0">
                <a:solidFill>
                  <a:srgbClr val="E8EEF2"/>
                </a:solidFill>
                <a:latin typeface="Segoe UI"/>
              </a:rPr>
              <a:t>BPM and SpO2 display</a:t>
            </a:r>
            <a:endParaRPr lang="en-US" sz="1400" dirty="0"/>
          </a:p>
        </p:txBody>
      </p:sp>
      <p:sp>
        <p:nvSpPr>
          <p:cNvPr id="11" name="Footer"/>
          <p:cNvSpPr txBox="1"/>
          <p:nvPr/>
        </p:nvSpPr>
        <p:spPr>
          <a:xfrm>
            <a:off x="502920" y="632764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900" dirty="0" b="0">
                <a:solidFill>
                  <a:srgbClr val="5D6A72"/>
                </a:solidFill>
                <a:latin typeface="Segoe UI"/>
              </a:rPr>
              <a:t>HeartRateAnalyze | Slide 4/11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3000" dirty="0" b="1">
                <a:solidFill>
                  <a:srgbClr val="00E5FF"/>
                </a:solidFill>
                <a:latin typeface="Segoe UI"/>
              </a:rPr>
              <a:t>Firmware Workflow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66928" y="914400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500" dirty="0" b="0">
                <a:solidFill>
                  <a:srgbClr val="AEB9C2"/>
                </a:solidFill>
                <a:latin typeface="Segoe UI"/>
              </a:rPr>
              <a:t>Loop behavior on the ESP32</a:t>
            </a:r>
            <a:endParaRPr lang="en-US" sz="1500" dirty="0"/>
          </a:p>
        </p:txBody>
      </p:sp>
      <p:sp>
        <p:nvSpPr>
          <p:cNvPr id="4" name="Bullets"/>
          <p:cNvSpPr txBox="1"/>
          <p:nvPr/>
        </p:nvSpPr>
        <p:spPr>
          <a:xfrm>
            <a:off x="685800" y="1508760"/>
            <a:ext cx="10698480" cy="4343400"/>
          </a:xfrm>
          <a:prstGeom prst="roundRect">
            <a:avLst/>
          </a:prstGeom>
          <a:solidFill>
            <a:srgbClr val="161A1D"/>
          </a:solidFill>
          <a:ln w="12700">
            <a:solidFill>
              <a:srgbClr val="2A343A"/>
            </a:solidFill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900" dirty="0" b="0">
                <a:solidFill>
                  <a:srgbClr val="E8EEF2"/>
                </a:solidFill>
                <a:latin typeface="Segoe UI"/>
              </a:rPr>
              <a:t>ECG is sampled at 250 Hz from GPIO 34.</a:t>
            </a:r>
            <a:endParaRPr lang="en-US" sz="19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900" dirty="0" b="0">
                <a:solidFill>
                  <a:srgbClr val="E8EEF2"/>
                </a:solidFill>
                <a:latin typeface="Segoe UI"/>
              </a:rPr>
              <a:t>ECG passes through high-pass baseline removal and low-pass smoothing.</a:t>
            </a:r>
            <a:endParaRPr lang="en-US" sz="19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900" dirty="0" b="0">
                <a:solidFill>
                  <a:srgbClr val="E8EEF2"/>
                </a:solidFill>
                <a:latin typeface="Segoe UI"/>
              </a:rPr>
              <a:t>MAX30102 is read once per PPG tick to avoid FIFO/read conflicts.</a:t>
            </a:r>
            <a:endParaRPr lang="en-US" sz="19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900" dirty="0" b="0">
                <a:solidFill>
                  <a:srgbClr val="E8EEF2"/>
                </a:solidFill>
                <a:latin typeface="Segoe UI"/>
              </a:rPr>
              <a:t>Raw IR is sent as the PPG waveform; red + IR are used internally for SpO2.</a:t>
            </a:r>
            <a:endParaRPr lang="en-US" sz="19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900" dirty="0" b="0">
                <a:solidFill>
                  <a:srgbClr val="E8EEF2"/>
                </a:solidFill>
                <a:latin typeface="Segoe UI"/>
              </a:rPr>
              <a:t>Vitals JSON is sent once per second over BLE.</a:t>
            </a:r>
            <a:endParaRPr lang="en-US" sz="1900" dirty="0"/>
          </a:p>
        </p:txBody>
      </p:sp>
      <p:sp>
        <p:nvSpPr>
          <p:cNvPr id="5" name="Footer"/>
          <p:cNvSpPr txBox="1"/>
          <p:nvPr/>
        </p:nvSpPr>
        <p:spPr>
          <a:xfrm>
            <a:off x="502920" y="632764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900" dirty="0" b="0">
                <a:solidFill>
                  <a:srgbClr val="5D6A72"/>
                </a:solidFill>
                <a:latin typeface="Segoe UI"/>
              </a:rPr>
              <a:t>HeartRateAnalyze | Slide 5/11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3000" dirty="0" b="1">
                <a:solidFill>
                  <a:srgbClr val="00E5FF"/>
                </a:solidFill>
                <a:latin typeface="Segoe UI"/>
              </a:rPr>
              <a:t>Signal Processing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66928" y="914400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500" dirty="0" b="0">
                <a:solidFill>
                  <a:srgbClr val="AEB9C2"/>
                </a:solidFill>
                <a:latin typeface="Segoe UI"/>
              </a:rPr>
              <a:t>What is processed and what stays raw</a:t>
            </a:r>
            <a:endParaRPr lang="en-US" sz="1500" dirty="0"/>
          </a:p>
        </p:txBody>
      </p:sp>
      <p:sp>
        <p:nvSpPr>
          <p:cNvPr id="4" name="ECG DSP"/>
          <p:cNvSpPr txBox="1"/>
          <p:nvPr/>
        </p:nvSpPr>
        <p:spPr>
          <a:xfrm>
            <a:off x="731520" y="1417320"/>
            <a:ext cx="3291840" cy="411480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/>
            </a:solidFill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700" dirty="0" b="1">
                <a:solidFill>
                  <a:srgbClr val="081014"/>
                </a:solidFill>
                <a:latin typeface="Segoe UI"/>
              </a:rPr>
              <a:t>ECG DSP</a:t>
            </a:r>
            <a:endParaRPr lang="en-US" sz="1700" dirty="0"/>
          </a:p>
        </p:txBody>
      </p:sp>
      <p:sp>
        <p:nvSpPr>
          <p:cNvPr id="5" name="ECG DSP body"/>
          <p:cNvSpPr txBox="1"/>
          <p:nvPr/>
        </p:nvSpPr>
        <p:spPr>
          <a:xfrm>
            <a:off x="731520" y="1856232"/>
            <a:ext cx="3291840" cy="1801368"/>
          </a:xfrm>
          <a:prstGeom prst="roundRect">
            <a:avLst/>
          </a:prstGeom>
          <a:solidFill>
            <a:srgbClr val="151A1E"/>
          </a:solidFill>
          <a:ln w="12700">
            <a:solidFill>
              <a:srgbClr val="2A343A"/>
            </a:solidFill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400" dirty="0" b="0">
                <a:solidFill>
                  <a:srgbClr val="E8EEF2"/>
                </a:solidFill>
                <a:latin typeface="Segoe UI"/>
              </a:rPr>
              <a:t>High-pass style baseline removal</a:t>
            </a:r>
            <a:endParaRPr lang="en-US" sz="14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400" dirty="0" b="0">
                <a:solidFill>
                  <a:srgbClr val="E8EEF2"/>
                </a:solidFill>
                <a:latin typeface="Segoe UI"/>
              </a:rPr>
              <a:t>Low-pass smoothing</a:t>
            </a:r>
            <a:endParaRPr lang="en-US" sz="14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400" dirty="0" b="0">
                <a:solidFill>
                  <a:srgbClr val="E8EEF2"/>
                </a:solidFill>
                <a:latin typeface="Segoe UI"/>
              </a:rPr>
              <a:t>Normalized into 0..4095 for graphing</a:t>
            </a:r>
            <a:endParaRPr lang="en-US" sz="1400" dirty="0"/>
          </a:p>
        </p:txBody>
      </p:sp>
      <p:sp>
        <p:nvSpPr>
          <p:cNvPr id="6" name="Raw PPG"/>
          <p:cNvSpPr txBox="1"/>
          <p:nvPr/>
        </p:nvSpPr>
        <p:spPr>
          <a:xfrm>
            <a:off x="4434840" y="1417320"/>
            <a:ext cx="3291840" cy="411480"/>
          </a:xfrm>
          <a:prstGeom prst="roundRect">
            <a:avLst/>
          </a:prstGeom>
          <a:solidFill>
            <a:srgbClr val="00E676"/>
          </a:solidFill>
          <a:ln w="12700">
            <a:solidFill>
              <a:srgbClr val="00E676"/>
            </a:solidFill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700" dirty="0" b="1">
                <a:solidFill>
                  <a:srgbClr val="081014"/>
                </a:solidFill>
                <a:latin typeface="Segoe UI"/>
              </a:rPr>
              <a:t>Raw PPG</a:t>
            </a:r>
            <a:endParaRPr lang="en-US" sz="1700" dirty="0"/>
          </a:p>
        </p:txBody>
      </p:sp>
      <p:sp>
        <p:nvSpPr>
          <p:cNvPr id="7" name="Raw PPG body"/>
          <p:cNvSpPr txBox="1"/>
          <p:nvPr/>
        </p:nvSpPr>
        <p:spPr>
          <a:xfrm>
            <a:off x="4434840" y="1856232"/>
            <a:ext cx="3291840" cy="1801368"/>
          </a:xfrm>
          <a:prstGeom prst="roundRect">
            <a:avLst/>
          </a:prstGeom>
          <a:solidFill>
            <a:srgbClr val="151A1E"/>
          </a:solidFill>
          <a:ln w="12700">
            <a:solidFill>
              <a:srgbClr val="2A343A"/>
            </a:solidFill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400" dirty="0" b="0">
                <a:solidFill>
                  <a:srgbClr val="E8EEF2"/>
                </a:solidFill>
                <a:latin typeface="Segoe UI"/>
              </a:rPr>
              <a:t>MAX30102 IR is sent directly</a:t>
            </a:r>
            <a:endParaRPr lang="en-US" sz="14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400" dirty="0" b="0">
                <a:solidFill>
                  <a:srgbClr val="E8EEF2"/>
                </a:solidFill>
                <a:latin typeface="Segoe UI"/>
              </a:rPr>
              <a:t>No DSP before BLE</a:t>
            </a:r>
            <a:endParaRPr lang="en-US" sz="14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400" dirty="0" b="0">
                <a:solidFill>
                  <a:srgbClr val="E8EEF2"/>
                </a:solidFill>
                <a:latin typeface="Segoe UI"/>
              </a:rPr>
              <a:t>Used for live PPG waveform</a:t>
            </a:r>
            <a:endParaRPr lang="en-US" sz="1400" dirty="0"/>
          </a:p>
        </p:txBody>
      </p:sp>
      <p:sp>
        <p:nvSpPr>
          <p:cNvPr id="8" name="SpO2"/>
          <p:cNvSpPr txBox="1"/>
          <p:nvPr/>
        </p:nvSpPr>
        <p:spPr>
          <a:xfrm>
            <a:off x="8138160" y="1417320"/>
            <a:ext cx="2560320" cy="411480"/>
          </a:xfrm>
          <a:prstGeom prst="roundRect">
            <a:avLst/>
          </a:prstGeom>
          <a:solidFill>
            <a:srgbClr val="FFEA00"/>
          </a:solidFill>
          <a:ln w="12700">
            <a:solidFill>
              <a:srgbClr val="FFEA00"/>
            </a:solidFill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700" dirty="0" b="1">
                <a:solidFill>
                  <a:srgbClr val="081014"/>
                </a:solidFill>
                <a:latin typeface="Segoe UI"/>
              </a:rPr>
              <a:t>SpO2</a:t>
            </a:r>
            <a:endParaRPr lang="en-US" sz="1700" dirty="0"/>
          </a:p>
        </p:txBody>
      </p:sp>
      <p:sp>
        <p:nvSpPr>
          <p:cNvPr id="9" name="SpO2 body"/>
          <p:cNvSpPr txBox="1"/>
          <p:nvPr/>
        </p:nvSpPr>
        <p:spPr>
          <a:xfrm>
            <a:off x="8138160" y="1856232"/>
            <a:ext cx="2560320" cy="1801368"/>
          </a:xfrm>
          <a:prstGeom prst="roundRect">
            <a:avLst/>
          </a:prstGeom>
          <a:solidFill>
            <a:srgbClr val="151A1E"/>
          </a:solidFill>
          <a:ln w="12700">
            <a:solidFill>
              <a:srgbClr val="2A343A"/>
            </a:solidFill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400" dirty="0" b="0">
                <a:solidFill>
                  <a:srgbClr val="E8EEF2"/>
                </a:solidFill>
                <a:latin typeface="Segoe UI"/>
              </a:rPr>
              <a:t>Rolling red/IR window</a:t>
            </a:r>
            <a:endParaRPr lang="en-US" sz="14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400" dirty="0" b="0">
                <a:solidFill>
                  <a:srgbClr val="E8EEF2"/>
                </a:solidFill>
                <a:latin typeface="Segoe UI"/>
              </a:rPr>
              <a:t>Ratio-of-ratios estimate</a:t>
            </a:r>
            <a:endParaRPr lang="en-US" sz="14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400" dirty="0" b="0">
                <a:solidFill>
                  <a:srgbClr val="E8EEF2"/>
                </a:solidFill>
                <a:latin typeface="Segoe UI"/>
              </a:rPr>
              <a:t>Invalid signal sends null</a:t>
            </a:r>
            <a:endParaRPr lang="en-US" sz="1400" dirty="0"/>
          </a:p>
        </p:txBody>
      </p:sp>
      <p:sp>
        <p:nvSpPr>
          <p:cNvPr id="10" name="Footer"/>
          <p:cNvSpPr txBox="1"/>
          <p:nvPr/>
        </p:nvSpPr>
        <p:spPr>
          <a:xfrm>
            <a:off x="502920" y="632764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900" dirty="0" b="0">
                <a:solidFill>
                  <a:srgbClr val="5D6A72"/>
                </a:solidFill>
                <a:latin typeface="Segoe UI"/>
              </a:rPr>
              <a:t>HeartRateAnalyze | Slide 6/11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3000" dirty="0" b="1">
                <a:solidFill>
                  <a:srgbClr val="00E5FF"/>
                </a:solidFill>
                <a:latin typeface="Segoe UI"/>
              </a:rPr>
              <a:t>Arrhythmia Classification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66928" y="914400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500" dirty="0" b="0">
                <a:solidFill>
                  <a:srgbClr val="AEB9C2"/>
                </a:solidFill>
                <a:latin typeface="Segoe UI"/>
              </a:rPr>
              <a:t>Heuristic rhythm labeling from BPM and RR variability</a:t>
            </a:r>
            <a:endParaRPr lang="en-US" sz="1500" dirty="0"/>
          </a:p>
        </p:txBody>
      </p:sp>
      <p:sp>
        <p:nvSpPr>
          <p:cNvPr id="4" name="Bullets"/>
          <p:cNvSpPr txBox="1"/>
          <p:nvPr/>
        </p:nvSpPr>
        <p:spPr>
          <a:xfrm>
            <a:off x="685800" y="1508760"/>
            <a:ext cx="10698480" cy="4343400"/>
          </a:xfrm>
          <a:prstGeom prst="roundRect">
            <a:avLst/>
          </a:prstGeom>
          <a:solidFill>
            <a:srgbClr val="161A1D"/>
          </a:solidFill>
          <a:ln w="12700">
            <a:solidFill>
              <a:srgbClr val="2A343A"/>
            </a:solidFill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900" dirty="0" b="0">
                <a:solidFill>
                  <a:srgbClr val="E8EEF2"/>
                </a:solidFill>
                <a:latin typeface="Segoe UI"/>
              </a:rPr>
              <a:t>NO_SIGNAL: insufficient beat/RR data.</a:t>
            </a:r>
            <a:endParaRPr lang="en-US" sz="19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900" dirty="0" b="0">
                <a:solidFill>
                  <a:srgbClr val="E8EEF2"/>
                </a:solidFill>
                <a:latin typeface="Segoe UI"/>
              </a:rPr>
              <a:t>NORMAL: BPM and variability within simple thresholds.</a:t>
            </a:r>
            <a:endParaRPr lang="en-US" sz="19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900" dirty="0" b="0">
                <a:solidFill>
                  <a:srgbClr val="E8EEF2"/>
                </a:solidFill>
                <a:latin typeface="Segoe UI"/>
              </a:rPr>
              <a:t>BRADYCARDIA: BPM below 45.</a:t>
            </a:r>
            <a:endParaRPr lang="en-US" sz="19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900" dirty="0" b="0">
                <a:solidFill>
                  <a:srgbClr val="E8EEF2"/>
                </a:solidFill>
                <a:latin typeface="Segoe UI"/>
              </a:rPr>
              <a:t>TACHYCARDIA: BPM above 120.</a:t>
            </a:r>
            <a:endParaRPr lang="en-US" sz="19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900" dirty="0" b="0">
                <a:solidFill>
                  <a:srgbClr val="E8EEF2"/>
                </a:solidFill>
                <a:latin typeface="Segoe UI"/>
              </a:rPr>
              <a:t>IRREGULAR: high RMSSD variability.</a:t>
            </a:r>
            <a:endParaRPr lang="en-US" sz="19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900" dirty="0" b="0">
                <a:solidFill>
                  <a:srgbClr val="E8EEF2"/>
                </a:solidFill>
                <a:latin typeface="Segoe UI"/>
              </a:rPr>
              <a:t>LOW_HRV: RMSSD below threshold.</a:t>
            </a:r>
            <a:endParaRPr lang="en-US" sz="1900" dirty="0"/>
          </a:p>
        </p:txBody>
      </p:sp>
      <p:sp>
        <p:nvSpPr>
          <p:cNvPr id="5" name="Footer"/>
          <p:cNvSpPr txBox="1"/>
          <p:nvPr/>
        </p:nvSpPr>
        <p:spPr>
          <a:xfrm>
            <a:off x="502920" y="632764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900" dirty="0" b="0">
                <a:solidFill>
                  <a:srgbClr val="5D6A72"/>
                </a:solidFill>
                <a:latin typeface="Segoe UI"/>
              </a:rPr>
              <a:t>HeartRateAnalyze | Slide 7/11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3000" dirty="0" b="1">
                <a:solidFill>
                  <a:srgbClr val="00E5FF"/>
                </a:solidFill>
                <a:latin typeface="Segoe UI"/>
              </a:rPr>
              <a:t>BLE Contract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66928" y="914400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500" dirty="0" b="0">
                <a:solidFill>
                  <a:srgbClr val="AEB9C2"/>
                </a:solidFill>
                <a:latin typeface="Segoe UI"/>
              </a:rPr>
              <a:t>Device and characteristic interface</a:t>
            </a:r>
            <a:endParaRPr lang="en-US" sz="1500" dirty="0"/>
          </a:p>
        </p:txBody>
      </p:sp>
      <p:sp>
        <p:nvSpPr>
          <p:cNvPr id="4" name="Bullets"/>
          <p:cNvSpPr txBox="1"/>
          <p:nvPr/>
        </p:nvSpPr>
        <p:spPr>
          <a:xfrm>
            <a:off x="685800" y="1508760"/>
            <a:ext cx="10698480" cy="4343400"/>
          </a:xfrm>
          <a:prstGeom prst="roundRect">
            <a:avLst/>
          </a:prstGeom>
          <a:solidFill>
            <a:srgbClr val="161A1D"/>
          </a:solidFill>
          <a:ln w="12700">
            <a:solidFill>
              <a:srgbClr val="2A343A"/>
            </a:solidFill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900" dirty="0" b="0">
                <a:solidFill>
                  <a:srgbClr val="E8EEF2"/>
                </a:solidFill>
                <a:latin typeface="Segoe UI"/>
              </a:rPr>
              <a:t>Device name: VitalMonitor</a:t>
            </a:r>
            <a:endParaRPr lang="en-US" sz="19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900" dirty="0" b="0">
                <a:solidFill>
                  <a:srgbClr val="E8EEF2"/>
                </a:solidFill>
                <a:latin typeface="Segoe UI"/>
              </a:rPr>
              <a:t>Service: 12345678-1234-1234-1234-123456789abc</a:t>
            </a:r>
            <a:endParaRPr lang="en-US" sz="19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900" dirty="0" b="0">
                <a:solidFill>
                  <a:srgbClr val="E8EEF2"/>
                </a:solidFill>
                <a:latin typeface="Segoe UI"/>
              </a:rPr>
              <a:t>Vitals characteristic sends JSON: bpm, spo2, hrv, rhythm, alert.</a:t>
            </a:r>
            <a:endParaRPr lang="en-US" sz="19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900" dirty="0" b="0">
                <a:solidFill>
                  <a:srgbClr val="E8EEF2"/>
                </a:solidFill>
                <a:latin typeface="Segoe UI"/>
              </a:rPr>
              <a:t>ECG and PPG characteristics send comma-separated numeric chunks.</a:t>
            </a:r>
            <a:endParaRPr lang="en-US" sz="19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900" dirty="0" b="0">
                <a:solidFill>
                  <a:srgbClr val="E8EEF2"/>
                </a:solidFill>
                <a:latin typeface="Segoe UI"/>
              </a:rPr>
              <a:t>Alert characteristic sends ARRHYTHMIA_ALERT when abnormal rhythm is detected.</a:t>
            </a:r>
            <a:endParaRPr lang="en-US" sz="1900" dirty="0"/>
          </a:p>
        </p:txBody>
      </p:sp>
      <p:sp>
        <p:nvSpPr>
          <p:cNvPr id="5" name="Footer"/>
          <p:cNvSpPr txBox="1"/>
          <p:nvPr/>
        </p:nvSpPr>
        <p:spPr>
          <a:xfrm>
            <a:off x="502920" y="632764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900" dirty="0" b="0">
                <a:solidFill>
                  <a:srgbClr val="5D6A72"/>
                </a:solidFill>
                <a:latin typeface="Segoe UI"/>
              </a:rPr>
              <a:t>HeartRateAnalyze | Slide 8/11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3000" dirty="0" b="1">
                <a:solidFill>
                  <a:srgbClr val="00E5FF"/>
                </a:solidFill>
                <a:latin typeface="Segoe UI"/>
              </a:rPr>
              <a:t>Web Dashboard Workflow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66928" y="914400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500" dirty="0" b="0">
                <a:solidFill>
                  <a:srgbClr val="AEB9C2"/>
                </a:solidFill>
                <a:latin typeface="Segoe UI"/>
              </a:rPr>
              <a:t>Browser connects, subscribes, draws, and stores</a:t>
            </a:r>
            <a:endParaRPr lang="en-US" sz="1500" dirty="0"/>
          </a:p>
        </p:txBody>
      </p:sp>
      <p:sp>
        <p:nvSpPr>
          <p:cNvPr id="4" name="Bullets"/>
          <p:cNvSpPr txBox="1"/>
          <p:nvPr/>
        </p:nvSpPr>
        <p:spPr>
          <a:xfrm>
            <a:off x="685800" y="1508760"/>
            <a:ext cx="10698480" cy="4343400"/>
          </a:xfrm>
          <a:prstGeom prst="roundRect">
            <a:avLst/>
          </a:prstGeom>
          <a:solidFill>
            <a:srgbClr val="161A1D"/>
          </a:solidFill>
          <a:ln w="12700">
            <a:solidFill>
              <a:srgbClr val="2A343A"/>
            </a:solidFill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900" dirty="0" b="0">
                <a:solidFill>
                  <a:srgbClr val="E8EEF2"/>
                </a:solidFill>
                <a:latin typeface="Segoe UI"/>
              </a:rPr>
              <a:t>User taps Connect to Device in Chrome with Web Bluetooth support.</a:t>
            </a:r>
            <a:endParaRPr lang="en-US" sz="19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900" dirty="0" b="0">
                <a:solidFill>
                  <a:srgbClr val="E8EEF2"/>
                </a:solidFill>
                <a:latin typeface="Segoe UI"/>
              </a:rPr>
              <a:t>App subscribes to vitals, ECG, PPG, and alert characteristics.</a:t>
            </a:r>
            <a:endParaRPr lang="en-US" sz="19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900" dirty="0" b="0">
                <a:solidFill>
                  <a:srgbClr val="E8EEF2"/>
                </a:solidFill>
                <a:latin typeface="Segoe UI"/>
              </a:rPr>
              <a:t>Canvas renderers draw live ECG and PPG waveforms.</a:t>
            </a:r>
            <a:endParaRPr lang="en-US" sz="19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900" dirty="0" b="0">
                <a:solidFill>
                  <a:srgbClr val="E8EEF2"/>
                </a:solidFill>
                <a:latin typeface="Segoe UI"/>
              </a:rPr>
              <a:t>Each vitals packet creates a history record with recent ECG/PPG samples.</a:t>
            </a:r>
            <a:endParaRPr lang="en-US" sz="19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900" dirty="0" b="0">
                <a:solidFill>
                  <a:srgbClr val="E8EEF2"/>
                </a:solidFill>
                <a:latin typeface="Segoe UI"/>
              </a:rPr>
              <a:t>History is stored in localStorage with filters for alerts, today, and week.</a:t>
            </a:r>
            <a:endParaRPr lang="en-US" sz="1900" dirty="0"/>
          </a:p>
        </p:txBody>
      </p:sp>
      <p:sp>
        <p:nvSpPr>
          <p:cNvPr id="5" name="Footer"/>
          <p:cNvSpPr txBox="1"/>
          <p:nvPr/>
        </p:nvSpPr>
        <p:spPr>
          <a:xfrm>
            <a:off x="502920" y="632764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900" dirty="0" b="0">
                <a:solidFill>
                  <a:srgbClr val="5D6A72"/>
                </a:solidFill>
                <a:latin typeface="Segoe UI"/>
              </a:rPr>
              <a:t>HeartRateAnalyze | Slide 9/11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3000" dirty="0" b="1">
                <a:solidFill>
                  <a:srgbClr val="00E5FF"/>
                </a:solidFill>
                <a:latin typeface="Segoe UI"/>
              </a:rPr>
              <a:t>Current Status &amp; Testing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66928" y="914400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500" dirty="0" b="0">
                <a:solidFill>
                  <a:srgbClr val="AEB9C2"/>
                </a:solidFill>
                <a:latin typeface="Segoe UI"/>
              </a:rPr>
              <a:t>What is working now</a:t>
            </a:r>
            <a:endParaRPr lang="en-US" sz="1500" dirty="0"/>
          </a:p>
        </p:txBody>
      </p:sp>
      <p:sp>
        <p:nvSpPr>
          <p:cNvPr id="4" name="Bullets"/>
          <p:cNvSpPr txBox="1"/>
          <p:nvPr/>
        </p:nvSpPr>
        <p:spPr>
          <a:xfrm>
            <a:off x="685800" y="1508760"/>
            <a:ext cx="10698480" cy="4343400"/>
          </a:xfrm>
          <a:prstGeom prst="roundRect">
            <a:avLst/>
          </a:prstGeom>
          <a:solidFill>
            <a:srgbClr val="161A1D"/>
          </a:solidFill>
          <a:ln w="12700">
            <a:solidFill>
              <a:srgbClr val="2A343A"/>
            </a:solidFill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900" dirty="0" b="0">
                <a:solidFill>
                  <a:srgbClr val="E8EEF2"/>
                </a:solidFill>
                <a:latin typeface="Segoe UI"/>
              </a:rPr>
              <a:t>Firmware compiles for esp32:esp32:esp32.</a:t>
            </a:r>
            <a:endParaRPr lang="en-US" sz="19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900" dirty="0" b="0">
                <a:solidFill>
                  <a:srgbClr val="E8EEF2"/>
                </a:solidFill>
                <a:latin typeface="Segoe UI"/>
              </a:rPr>
              <a:t>LCD shows MAX30102 status, PPG schedule/recording, BPM, and SpO2.</a:t>
            </a:r>
            <a:endParaRPr lang="en-US" sz="19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900" dirty="0" b="0">
                <a:solidFill>
                  <a:srgbClr val="E8EEF2"/>
                </a:solidFill>
                <a:latin typeface="Segoe UI"/>
              </a:rPr>
              <a:t>PPG sensor failure no longer freezes silently; LCD shows error.</a:t>
            </a:r>
            <a:endParaRPr lang="en-US" sz="19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900" dirty="0" b="0">
                <a:solidFill>
                  <a:srgbClr val="E8EEF2"/>
                </a:solidFill>
                <a:latin typeface="Segoe UI"/>
              </a:rPr>
              <a:t>Compile size: about 86% program storage, 13% dynamic memory.</a:t>
            </a:r>
            <a:endParaRPr lang="en-US" sz="19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900" dirty="0" b="0">
                <a:solidFill>
                  <a:srgbClr val="E8EEF2"/>
                </a:solidFill>
                <a:latin typeface="Segoe UI"/>
              </a:rPr>
              <a:t>Next hardware checks: upload, serial monitor, BLE connect, live waveform validation.</a:t>
            </a:r>
            <a:endParaRPr lang="en-US" sz="1900" dirty="0"/>
          </a:p>
        </p:txBody>
      </p:sp>
      <p:sp>
        <p:nvSpPr>
          <p:cNvPr id="5" name="Footer"/>
          <p:cNvSpPr txBox="1"/>
          <p:nvPr/>
        </p:nvSpPr>
        <p:spPr>
          <a:xfrm>
            <a:off x="502920" y="632764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900" dirty="0" b="0">
                <a:solidFill>
                  <a:srgbClr val="5D6A72"/>
                </a:solidFill>
                <a:latin typeface="Segoe UI"/>
              </a:rPr>
              <a:t>HeartRateAnalyze | Slide 10/11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3000" dirty="0" b="1">
                <a:solidFill>
                  <a:srgbClr val="00E5FF"/>
                </a:solidFill>
                <a:latin typeface="Segoe UI"/>
              </a:rPr>
              <a:t>Limitations &amp; Next Steps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66928" y="914400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500" dirty="0" b="0">
                <a:solidFill>
                  <a:srgbClr val="AEB9C2"/>
                </a:solidFill>
                <a:latin typeface="Segoe UI"/>
              </a:rPr>
              <a:t>Known constraints and future improvements</a:t>
            </a:r>
            <a:endParaRPr lang="en-US" sz="1500" dirty="0"/>
          </a:p>
        </p:txBody>
      </p:sp>
      <p:sp>
        <p:nvSpPr>
          <p:cNvPr id="4" name="Bullets"/>
          <p:cNvSpPr txBox="1"/>
          <p:nvPr/>
        </p:nvSpPr>
        <p:spPr>
          <a:xfrm>
            <a:off x="685800" y="1508760"/>
            <a:ext cx="10698480" cy="4343400"/>
          </a:xfrm>
          <a:prstGeom prst="roundRect">
            <a:avLst/>
          </a:prstGeom>
          <a:solidFill>
            <a:srgbClr val="161A1D"/>
          </a:solidFill>
          <a:ln w="12700">
            <a:solidFill>
              <a:srgbClr val="2A343A"/>
            </a:solidFill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1900" dirty="0" b="0">
                <a:solidFill>
                  <a:srgbClr val="E8EEF2"/>
                </a:solidFill>
                <a:latin typeface="Segoe UI"/>
              </a:rPr>
              <a:t>SpO2 and rhythm classification are demo heuristics, not medical-grade algorithms.</a:t>
            </a:r>
            <a:endParaRPr lang="en-US" sz="19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900" dirty="0" b="0">
                <a:solidFill>
                  <a:srgbClr val="E8EEF2"/>
                </a:solidFill>
                <a:latin typeface="Segoe UI"/>
              </a:rPr>
              <a:t>MAX30102 readings depend heavily on finger placement, light leakage, and wiring.</a:t>
            </a:r>
            <a:endParaRPr lang="en-US" sz="19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900" dirty="0" b="0">
                <a:solidFill>
                  <a:srgbClr val="E8EEF2"/>
                </a:solidFill>
                <a:latin typeface="Segoe UI"/>
              </a:rPr>
              <a:t>Improve ECG classification with real QRS detection and tested RR interval windows.</a:t>
            </a:r>
            <a:endParaRPr lang="en-US" sz="19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900" dirty="0" b="0">
                <a:solidFill>
                  <a:srgbClr val="E8EEF2"/>
                </a:solidFill>
                <a:latin typeface="Segoe UI"/>
              </a:rPr>
              <a:t>Add calibration/debug screens for raw red/IR values and signal quality.</a:t>
            </a:r>
            <a:endParaRPr lang="en-US" sz="1900" dirty="0"/>
          </a:p>
          <a:p>
            <a:pPr marL="0" indent="-228600">
              <a:buChar char="•"/>
              <a:buSzPct val="90000"/>
              <a:buFont typeface="Arial"/>
            </a:pPr>
            <a:r>
              <a:rPr lang="en-US" sz="1900" dirty="0" b="0">
                <a:solidFill>
                  <a:srgbClr val="E8EEF2"/>
                </a:solidFill>
                <a:latin typeface="Segoe UI"/>
              </a:rPr>
              <a:t>Add export/share option for recorded sessions from the web dashboard.</a:t>
            </a:r>
            <a:endParaRPr lang="en-US" sz="1900" dirty="0"/>
          </a:p>
        </p:txBody>
      </p:sp>
      <p:sp>
        <p:nvSpPr>
          <p:cNvPr id="5" name="Footer"/>
          <p:cNvSpPr txBox="1"/>
          <p:nvPr/>
        </p:nvSpPr>
        <p:spPr>
          <a:xfrm>
            <a:off x="502920" y="632764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40000" tIns="90000" rIns="140000" bIns="90000"/>
          <a:lstStyle/>
          <a:p>
            <a:pPr marL="0" indent="-228600">
              <a:buChar char="•"/>
              <a:buSzPct val="90000"/>
              <a:buFont typeface="Arial"/>
            </a:pPr>
            <a:r>
              <a:rPr lang="en-US" sz="900" dirty="0" b="0">
                <a:solidFill>
                  <a:srgbClr val="5D6A72"/>
                </a:solidFill>
                <a:latin typeface="Segoe UI"/>
              </a:rPr>
              <a:t>HeartRateAnalyze | Slide 11/11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artRateAnalyze">
  <a:themeElements>
    <a:clrScheme name="HeartRateAnalyze">
      <a:dk1>
        <a:srgbClr val="0D0F10"/>
      </a:dk1>
      <a:lt1>
        <a:srgbClr val="E8EEF2"/>
      </a:lt1>
      <a:dk2>
        <a:srgbClr val="161A1D"/>
      </a:dk2>
      <a:lt2>
        <a:srgbClr val="AEB9C2"/>
      </a:lt2>
      <a:accent1>
        <a:srgbClr val="00E5FF"/>
      </a:accent1>
      <a:accent2>
        <a:srgbClr val="00E676"/>
      </a:accent2>
      <a:accent3>
        <a:srgbClr val="FFEA00"/>
      </a:accent3>
      <a:accent4>
        <a:srgbClr val="FF1744"/>
      </a:accent4>
      <a:accent5>
        <a:srgbClr val="6C7A86"/>
      </a:accent5>
      <a:accent6>
        <a:srgbClr val="FFFFFF"/>
      </a:accent6>
      <a:hlink>
        <a:srgbClr val="00E5FF"/>
      </a:hlink>
      <a:folHlink>
        <a:srgbClr val="00E676"/>
      </a:folHlink>
    </a:clrScheme>
    <a:fontScheme name="Segoe">
      <a:majorFont>
        <a:latin typeface="Segoe UI"/>
      </a:majorFont>
      <a:minorFont>
        <a:latin typeface="Segoe UI"/>
      </a:minorFont>
    </a:fontScheme>
    <a:fmtScheme name="Defaul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11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HeartRateAnalyze Project Presentation</dc:title>
  <dc:creator>Codex</dc:creator>
  <cp:lastModifiedBy>Codex</cp:lastModifiedBy>
  <dcterms:created xsi:type="dcterms:W3CDTF">2026-05-19T19:32:24+00:00</dcterms:created>
  <dcterms:modified xsi:type="dcterms:W3CDTF">2026-05-19T19:32:24+00:00</dcterms:modified>
</cp:coreProperties>
</file>